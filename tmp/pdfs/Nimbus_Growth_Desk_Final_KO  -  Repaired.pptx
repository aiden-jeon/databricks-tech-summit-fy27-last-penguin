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33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0:30,,“오늘 보여드릴 것은 또 하나의 대시보드가 아니라, 일주일 걸리던 성장 의사결정을 점심 전에 끝내는 운영 제품입니다.”,Sofia에게는 속도와 전환 회복, Noor에게는 비용 귀속과 통제가 핵심이라고 선명하게 시작한다.,전체 데모 체인을 한 문장으로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0:50,,“Nimbus 전체에서는 전환율 1%p가 연간 약 4백만 달러입니다.”,이 숫자는 회사 전체 기준이며, 다음 슬라이드의 $721.3K 세그먼트 기회와 범위가 다르다고 명시한다.,병목은 분석 자체보다 검색·승인·반영 사이의 핸드오프임을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1:00,,“우리가 오늘 해결할 단위는 회사 전체가 아니라 SEG-0000214 하나입니다.”,전환율 2.9% 대 4.2%, 420K MAU, $524.2K 위험을 짚는다.,추천 효과 +1.80%p와 예상 순가치 $721.3K는 모델 추천의 세그먼트 범위이며, EXP-0000009의 관측 +2.25%p와 동일한 값이 아님을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0:55,,“세 빌드는 별도 데모가 아니라 하나의 결정 체인입니다.”,Lakebase는 검색과 트랜잭션, 앱은 사람의 결정 화면, Gateway는 AI 호출의 귀속과 비용 통제를 맡는다.,동일 decision_id가 전 구간의 증거를 연결하고 동기화 원본은 쓰지 않는다고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전환 0:15 + 라이브 10:00,,“이제 설명을 멈추고 실제 흐름을 보여드리겠습니다.”,앱에서 근거 검색 + 초안 → 승인 → 커밋을 차례로 실행한다.,결정 ID와 감사 이력이 즉시 갱신되는 것을 짚고 AI 비용 링크로 같은 Gateway 대시보드를 연다.,관리 설정 화면은 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0:55,,“여기서 중요한 것은 AI가 결정을 대신하지 않는다는 점입니다.”,검색 근거와 AI 초안이 proposed로 시작하고, 로그인 사용자가 approved_by로 남은 뒤에만 커밋 가능하다.,승인 전 커밋은 상태 머신에서 거부되며 모든 이벤트는 같은 decision_id의 audit_trail에 누적된다고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1:00,,“Noor가 보고 싶은 것은 AI가 싸다는 약속이 아니라, 누가 얼마를 썼고 어디서 멈췄는지입니다.”,현재 실측 55건, 414.6K 토큰, 추정 $0.0976, 403 차단 3건을 보여준다.,외부 모델 spend 행이 없으므로 실제 청구액을 0으로 표시하지 않고 NULL/미제공으로 명시했다고 설명한다.,$0.03/$0.05는 데모 임계값이며 연간 약 $500K 상한과 같은 숫자가 아니라고 선을 긋는다.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0:55,,“Databricks의 차이는 기능 개수가 아니라 연결 비용을 없애는 데 있습니다.”,거버넌스, OLTP, 앱, AI Gateway가 하나의 보안·감사 경계 안에서 동작한다.,새로운 SaaS를 네 개 붙인 아키텍처가 아니라, 동일 데이터와 ID를 공유하는 플랫폼이라고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0:55,,“제안은 전면 출시가 아니라 25%의 가역적인 시작입니다.”,24시간에 전환과 Gateway 비용을 확인하고, 72시간에 확대 또는 중단한다.,성공 기준은 전환 효과만이 아니라 비용 임계값과 감사 가능성을 함께 만족하는 것이라고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1:00,,ROI 범위를 묻는 질문에 사용한다.,$4M은 회사 전체 1%p의 연간 단순 환산이고, $721.3K는 특정 세그먼트·행동·기간의 모델 예상 순가치임을 반복한다.,관측 실험 lift와 추천 모델 lift도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1:30,,Arjun/Lucas의 기술 질문에 사용한다.,Delta/UC는 분석 원본, Lakebase Sync는 저지연 읽기, Lakebase OLTP는 유일한 쓰기 표면이다.,AI 호출은 Gateway를 거쳐 request_id로 귀속되고 system table 기반 대시보드에서 확인된다.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1:00,,쓰기 경계와 초기화 안전성 질문에 사용한다.,동기화 원본은 변경하지 않고 feature_decisions_app만 쓴다.,초기화 API는 정확한 segment_id와 confirm=true만 허용한다.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1:15,,Gateway 비용 계산과 통제 질문에 사용한다.,명시 단가 기반 추정치와 외부 모델 실제 spend를 섞지 않는다.,현재 403 3건은 시스템 테이블에서 request_id와 함께 확인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시간: 질문 시 필요 항목만,,질문을 받은 항목만 짧게 사용한다.,주장 대신 앱 상태 전이, Gateway system table, 데이터 경계 같은 검증 가능한 증거로 답한다.,더 깊은 내용은 QA_OBJECTIONS_KO.md를 참조한다.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MBUS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47104"/>
            <a:ext cx="11356848" cy="0"/>
          </a:xfrm>
          <a:prstGeom prst="line">
            <a:avLst/>
          </a:prstGeom>
          <a:noFill/>
          <a:ln w="1016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65836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 ×  DATABRICKS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65836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· LIVE DEMO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st Penguins team post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66760" y="0"/>
            <a:ext cx="3822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11171C">
              <a:alpha val="45000"/>
            </a:srgbClr>
          </a:solidFill>
          <a:ln w="12700">
            <a:solidFill>
              <a:srgbClr val="1117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1"/>
          <p:cNvSpPr/>
          <p:nvPr/>
        </p:nvSpPr>
        <p:spPr>
          <a:xfrm>
            <a:off x="7955280" y="0"/>
            <a:ext cx="685800" cy="6858000"/>
          </a:xfrm>
          <a:prstGeom prst="rect">
            <a:avLst/>
          </a:prstGeom>
          <a:solidFill>
            <a:srgbClr val="11171C">
              <a:alpha val="85000"/>
            </a:srgbClr>
          </a:solidFill>
          <a:ln w="12700">
            <a:solidFill>
              <a:srgbClr val="1117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3"/>
          <p:cNvSpPr/>
          <p:nvPr/>
        </p:nvSpPr>
        <p:spPr>
          <a:xfrm>
            <a:off x="658368" y="411480"/>
            <a:ext cx="162763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7" name="Image 1" descr="Nimbus customer log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808" y="466344"/>
            <a:ext cx="1444752" cy="822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87168" y="69494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243039"/>
          </a:solidFill>
          <a:ln w="12700">
            <a:solidFill>
              <a:srgbClr val="24303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5"/>
          <p:cNvSpPr/>
          <p:nvPr/>
        </p:nvSpPr>
        <p:spPr>
          <a:xfrm>
            <a:off x="2560320" y="694944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0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SOFIA · GROWTH     NOOR · FINANCE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94944" y="157276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Growth Desk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94944" y="2194560"/>
            <a:ext cx="7086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일주일의 결정을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점심 전에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731520" y="4059936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0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발견 → 근거 검색 → AI 초안 → 사람 승인 → Lakebase 반영 → Gateway 비용 확인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" y="4956048"/>
            <a:ext cx="7086600" cy="0"/>
          </a:xfrm>
          <a:prstGeom prst="line">
            <a:avLst/>
          </a:prstGeom>
          <a:noFill/>
          <a:ln w="12700">
            <a:solidFill>
              <a:srgbClr val="4051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0"/>
          <p:cNvSpPr/>
          <p:nvPr/>
        </p:nvSpPr>
        <p:spPr>
          <a:xfrm>
            <a:off x="731520" y="5230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세션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874520" y="523036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8분  ·  라이브 10분  ·  마무리 4분  ·  Q&amp;A 8분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0" y="59893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2026.08.27 · Seoul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BUSINESS CLOCK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늦어질 때 전환이 사라집니다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 임팩트와 단일 세그먼트 임팩트를 섞지 않고 각각 계산합니다.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9339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" y="1993392"/>
            <a:ext cx="54864" cy="2103120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95528" y="21579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온라인 매출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47802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5935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 기준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0832" y="199339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4370832" y="1993392"/>
            <a:ext cx="54864" cy="210312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4572000" y="21579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 1%p의 연간 가치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247802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$4M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572000" y="35935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 × 1%p · 회사 전체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47304" y="1993392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8147304" y="1993392"/>
            <a:ext cx="54864" cy="210312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8348472" y="21579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48472" y="2478024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15M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348472" y="35935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전체 MAU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1792" y="470916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문제는 모델 정확도가 아니라 의사결정 대기열입니다.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0080" y="523036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찾기 → 실험 비교 → 초안 → 승인 → 제품 반영이 팀과 도구 사이에서 끊어질 때, 매주 기회비용이 누적됩니다.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001000" y="4690872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CEDEA"/>
          </a:solidFill>
          <a:ln w="12700">
            <a:solidFill>
              <a:srgbClr val="FCED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1"/>
          <p:cNvSpPr/>
          <p:nvPr/>
        </p:nvSpPr>
        <p:spPr>
          <a:xfrm>
            <a:off x="8074152" y="4690872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전체: 1%p = $4M/년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SEGMENT, ONE DECISION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SEG-0000214에서 $524.2K 위험과 $721.3K 기회를 확인했습니다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420K MAU · Gen-Z / Android · 3주 전 대비 전환율 -1.3%p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54864" cy="196596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95528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전환율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2.9%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 전 4.2%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3319272" y="1874520"/>
            <a:ext cx="54864" cy="1965960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520440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매출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0440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$524.2K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520440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세그먼트 범위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44184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6044184" y="1874520"/>
            <a:ext cx="54864" cy="196596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6245352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효과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45352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+1.80%p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245352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제한 롤아웃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69096" y="187452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19"/>
          <p:cNvSpPr/>
          <p:nvPr/>
        </p:nvSpPr>
        <p:spPr>
          <a:xfrm>
            <a:off x="8769096" y="1874520"/>
            <a:ext cx="54864" cy="1965960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0"/>
          <p:cNvSpPr/>
          <p:nvPr/>
        </p:nvSpPr>
        <p:spPr>
          <a:xfrm>
            <a:off x="8970264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순가치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70264" y="23591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$721.3K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970264" y="33375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$5K 반영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" y="4407408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4"/>
          <p:cNvSpPr/>
          <p:nvPr/>
        </p:nvSpPr>
        <p:spPr>
          <a:xfrm>
            <a:off x="768096" y="451713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EXP-0000009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8096" y="4828032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+2.25%p · 유사 Android Gen-Z 실험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703320" y="4956048"/>
            <a:ext cx="777240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7"/>
          <p:cNvSpPr/>
          <p:nvPr/>
        </p:nvSpPr>
        <p:spPr>
          <a:xfrm>
            <a:off x="4553712" y="4407408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8"/>
          <p:cNvSpPr/>
          <p:nvPr/>
        </p:nvSpPr>
        <p:spPr>
          <a:xfrm>
            <a:off x="4700016" y="451713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후보 비교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00016" y="4828032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· 전환 효과 · 재사용 가능성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644384" y="4956048"/>
            <a:ext cx="768096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1"/>
          <p:cNvSpPr/>
          <p:nvPr/>
        </p:nvSpPr>
        <p:spPr>
          <a:xfrm>
            <a:off x="8503920" y="4407408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2"/>
          <p:cNvSpPr/>
          <p:nvPr/>
        </p:nvSpPr>
        <p:spPr>
          <a:xfrm>
            <a:off x="8650224" y="451713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변형 출시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650224" y="4828032"/>
            <a:ext cx="2450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 전에는 실행 없음</a:t>
            </a:r>
            <a:endParaRPr lang="en-US" sz="9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PRODUCT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빌드가 하나의 감사 가능한 제품이 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governed data → Lakebase → app → Unity AI Gateway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1171C"/>
          </a:solidFill>
          <a:ln w="1778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804672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Governed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· 실험 · 추천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정의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71800" y="2816352"/>
            <a:ext cx="704088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3730752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40D1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3877056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1 · Lakebase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77056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검색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감사 이력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44184" y="2816352"/>
            <a:ext cx="704088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6803136" y="2103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6949440" y="221284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2 · App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0" y="2523744"/>
            <a:ext cx="1947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· 승인 · 커밋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화면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2816352"/>
            <a:ext cx="667512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9838944" y="210312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9985248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985248" y="2523744"/>
            <a:ext cx="13990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비용·통제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78992" y="4242816"/>
            <a:ext cx="10012680" cy="1051560"/>
          </a:xfrm>
          <a:prstGeom prst="roundRect">
            <a:avLst>
              <a:gd name="adj" fmla="val 6957"/>
            </a:avLst>
          </a:prstGeom>
          <a:solidFill>
            <a:srgbClr val="EDF4FA"/>
          </a:solidFill>
          <a:ln w="12700">
            <a:solidFill>
              <a:srgbClr val="B8D2E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1353312" y="4407408"/>
            <a:ext cx="946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decision_id가 검색 근거, AI 초안, 승인자, 커밋 시각을 연결합니다.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53312" y="4800600"/>
            <a:ext cx="9464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원본은 읽기 전용 · 앱은 feature_decisions_app만 씁니다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320040"/>
            <a:ext cx="1609344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DCE1E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58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 →  Decide  →  Ship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19262D"/>
          </a:solidFill>
          <a:ln w="15240">
            <a:solidFill>
              <a:srgbClr val="3143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96012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SEG-0000214의 하락 원인과 근거를 찾습니다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203B47"/>
          </a:solidFill>
          <a:ln w="15240">
            <a:solidFill>
              <a:srgbClr val="40D1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475488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5488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초안을 보고 Sofia가 25% 롤아웃을 승인합니다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66760" y="27432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19262D"/>
          </a:solidFill>
          <a:ln w="15240">
            <a:solidFill>
              <a:srgbClr val="3143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854964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4964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9640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ID로 Lakebase에 커밋하고 비용을 확인합니다</a:t>
            </a:r>
            <a:endParaRPr lang="en-US" sz="105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462272" y="4754880"/>
            <a:ext cx="3264408" cy="1828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62272" y="6473952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PowerPoint에서 클릭하여 10초 고객 로고 영상 재생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82296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앱: nimbus-growth-desk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156448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2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대시보드: 동일 Gateway URL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AUDITABLE BY DESIGN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검색·승인·커밋이 하나의 결정 체인이 됩니다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판단은 AI의 생성 결과와 분리되어 명시적으로 기록됩니다.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508760" y="1965960"/>
            <a:ext cx="566928" cy="566928"/>
          </a:xfrm>
          <a:prstGeom prst="ellipse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15087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167128" y="2249424"/>
            <a:ext cx="121615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230428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786384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320954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 인덱스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EXP-0000009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9120" y="1965960"/>
            <a:ext cx="566928" cy="566928"/>
          </a:xfrm>
          <a:prstGeom prst="ellipse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4389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47488" y="2249424"/>
            <a:ext cx="121615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2"/>
          <p:cNvSpPr/>
          <p:nvPr/>
        </p:nvSpPr>
        <p:spPr>
          <a:xfrm>
            <a:off x="3520440" y="2788920"/>
            <a:ext cx="230428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/>
          <p:nvPr/>
        </p:nvSpPr>
        <p:spPr>
          <a:xfrm>
            <a:off x="3666744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66744" y="320954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결과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approval_required=true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69480" y="1965960"/>
            <a:ext cx="566928" cy="566928"/>
          </a:xfrm>
          <a:prstGeom prst="ellipse">
            <a:avLst/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72694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27848" y="2249424"/>
            <a:ext cx="1216152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8"/>
          <p:cNvSpPr/>
          <p:nvPr/>
        </p:nvSpPr>
        <p:spPr>
          <a:xfrm>
            <a:off x="6400800" y="2788920"/>
            <a:ext cx="230428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6547104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47104" y="320954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approved_by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사용자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149840" y="1965960"/>
            <a:ext cx="566928" cy="566928"/>
          </a:xfrm>
          <a:prstGeom prst="ellipse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2"/>
          <p:cNvSpPr/>
          <p:nvPr/>
        </p:nvSpPr>
        <p:spPr>
          <a:xfrm>
            <a:off x="101498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81160" y="2788920"/>
            <a:ext cx="230428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4"/>
          <p:cNvSpPr/>
          <p:nvPr/>
        </p:nvSpPr>
        <p:spPr>
          <a:xfrm>
            <a:off x="9427464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427464" y="320954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decided_at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transaction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60120" y="4645152"/>
            <a:ext cx="10168128" cy="786384"/>
          </a:xfrm>
          <a:prstGeom prst="roundRect">
            <a:avLst>
              <a:gd name="adj" fmla="val 9302"/>
            </a:avLst>
          </a:prstGeom>
          <a:solidFill>
            <a:srgbClr val="11171C"/>
          </a:solidFill>
          <a:ln w="1270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7"/>
          <p:cNvSpPr/>
          <p:nvPr/>
        </p:nvSpPr>
        <p:spPr>
          <a:xfrm>
            <a:off x="1188720" y="4645152"/>
            <a:ext cx="9710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decision_id  6c8…  ·  proposed  →  approved  →  committed  ·  append-only audit_trail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CONTROL PLANE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비용은 보이고, 귀속되고, 멈춥니다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Gateway 사용량 · 명시 단가 추정치 · 차단 결과를 같은 페이지에서 확인합니다.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54864" cy="1700784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95528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토큰 비용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$0.0976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$0.15/M · 출력 $0.60/M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73552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3273552" y="1874520"/>
            <a:ext cx="54864" cy="1700784"/>
          </a:xfrm>
          <a:prstGeom prst="rect">
            <a:avLst/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474720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/ 토큰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74720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 / 414.6K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474720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Gateway 합계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52744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5952744" y="1874520"/>
            <a:ext cx="54864" cy="1700784"/>
          </a:xfrm>
          <a:prstGeom prst="rect">
            <a:avLst/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6153912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403 차단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53912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153912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status_code + request_id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31936" y="1874520"/>
            <a:ext cx="251460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19"/>
          <p:cNvSpPr/>
          <p:nvPr/>
        </p:nvSpPr>
        <p:spPr>
          <a:xfrm>
            <a:off x="8631936" y="1874520"/>
            <a:ext cx="54864" cy="1700784"/>
          </a:xfrm>
          <a:prstGeom prst="rect">
            <a:avLst/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0"/>
          <p:cNvSpPr/>
          <p:nvPr/>
        </p:nvSpPr>
        <p:spPr>
          <a:xfrm>
            <a:off x="8833104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/ 하드 스톱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833104" y="235915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8F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$0.03 / $0.05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833104" y="307238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검증 임계값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4"/>
          <p:cNvSpPr/>
          <p:nvPr/>
        </p:nvSpPr>
        <p:spPr>
          <a:xfrm>
            <a:off x="768096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보인다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8096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시간별 비용 · 모델별 토큰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외부 spend 없으면 NULL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443984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7"/>
          <p:cNvSpPr/>
          <p:nvPr/>
        </p:nvSpPr>
        <p:spPr>
          <a:xfrm>
            <a:off x="4590288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귀속된다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90288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request_tags['application']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requester · request_id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266176" y="4160520"/>
            <a:ext cx="32552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0"/>
          <p:cNvSpPr/>
          <p:nvPr/>
        </p:nvSpPr>
        <p:spPr>
          <a:xfrm>
            <a:off x="8412480" y="4270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멈춘다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0" y="4581144"/>
            <a:ext cx="2962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$0.03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 스톱 $0.05 · 403</a:t>
            </a:r>
            <a:endParaRPr lang="en-US" sz="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DATABRICKS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플랫폼과 하나의 AI 비용 제어면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데이터, 운영 상태, AI 호출을 별도 증거 체계로 다시 붙일 필요가 없습니다.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77240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데이터 정의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850392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Catalog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세그먼트·실험·추천의 출처와 접근 권한을 통합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47288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630168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30168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운영 상태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630168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/>
          <p:nvPr/>
        </p:nvSpPr>
        <p:spPr>
          <a:xfrm>
            <a:off x="3703320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30168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검색과 승인·커밋 트랜잭션을 같은 제품에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0216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6483096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83096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앱 표면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483096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6556248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Databricks Apps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83096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사용자, AI 결과, 사람 승인, 감사 이력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153144" y="19202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1171C"/>
          </a:solidFill>
          <a:ln w="1270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2"/>
          <p:cNvSpPr/>
          <p:nvPr/>
        </p:nvSpPr>
        <p:spPr>
          <a:xfrm>
            <a:off x="9336024" y="21305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36024" y="26700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AI 제어면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336024" y="34930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243039"/>
          </a:solidFill>
          <a:ln w="12700">
            <a:solidFill>
              <a:srgbClr val="24303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5"/>
          <p:cNvSpPr/>
          <p:nvPr/>
        </p:nvSpPr>
        <p:spPr>
          <a:xfrm>
            <a:off x="9409176" y="349300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0D1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AI Gateway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336024" y="4041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비용, 귀속, 정책, 예산을 모델과 도구 전반에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RECOMMENDATION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롤아웃, 제한된 AI 비용, 일 단위 실험 루프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약속보다 작은 범위·짧은 피드백·명확한 중단 조건으로 시작합니다.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28800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EE3D2C"/>
          </a:solidFill>
          <a:ln w="1270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667512" y="182880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" y="237744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6"/>
          <p:cNvSpPr/>
          <p:nvPr/>
        </p:nvSpPr>
        <p:spPr>
          <a:xfrm>
            <a:off x="740664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롤아웃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" y="2798064"/>
            <a:ext cx="21945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 · EXP-0000009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 후 커밋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36392" y="3456432"/>
            <a:ext cx="246888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3447288" y="1828800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FF8F5B"/>
          </a:solidFill>
          <a:ln w="1270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520440" y="182880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24시간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47288" y="237744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3593592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전환·비용 확인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2798064"/>
            <a:ext cx="21945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전환율, 오류율, 추정 비용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Gateway 귀속 점검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3456432"/>
            <a:ext cx="246888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6300216" y="1828800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2272B4"/>
          </a:solidFill>
          <a:ln w="1270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6373368" y="182880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72시간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00216" y="237744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/>
          <p:nvPr/>
        </p:nvSpPr>
        <p:spPr>
          <a:xfrm>
            <a:off x="644652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 또는 중단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2798064"/>
            <a:ext cx="21945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확인 시 50%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위반 시 즉시 중단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842248" y="3456432"/>
            <a:ext cx="246888" cy="0"/>
          </a:xfrm>
          <a:prstGeom prst="line">
            <a:avLst/>
          </a:prstGeom>
          <a:noFill/>
          <a:ln w="27940">
            <a:solidFill>
              <a:srgbClr val="DCE1E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1"/>
          <p:cNvSpPr/>
          <p:nvPr/>
        </p:nvSpPr>
        <p:spPr>
          <a:xfrm>
            <a:off x="9153144" y="1828800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2F9E6F"/>
          </a:solidFill>
          <a:ln w="1270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2"/>
          <p:cNvSpPr/>
          <p:nvPr/>
        </p:nvSpPr>
        <p:spPr>
          <a:xfrm>
            <a:off x="9226296" y="182880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153144" y="237744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4"/>
          <p:cNvSpPr/>
          <p:nvPr/>
        </p:nvSpPr>
        <p:spPr>
          <a:xfrm>
            <a:off x="9299448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루프 반복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299448" y="2798064"/>
            <a:ext cx="21945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슬라이딩 세그먼트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Ask → Decide → Ship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298448" y="5074920"/>
            <a:ext cx="9564624" cy="658368"/>
          </a:xfrm>
          <a:prstGeom prst="roundRect">
            <a:avLst>
              <a:gd name="adj" fmla="val 11111"/>
            </a:avLst>
          </a:prstGeom>
          <a:solidFill>
            <a:srgbClr val="E8F5EF"/>
          </a:solidFill>
          <a:ln w="12700">
            <a:solidFill>
              <a:srgbClr val="B9DDC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7"/>
          <p:cNvSpPr/>
          <p:nvPr/>
        </p:nvSpPr>
        <p:spPr>
          <a:xfrm>
            <a:off x="1536192" y="5074920"/>
            <a:ext cx="9089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9E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기준: 전환 회복 + 비용 임계값 내 운영 + 모든 결정의 감사 가능성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산식과 범위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 매크로 가치와 세그먼트 의사결정 가치를 분리합니다.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86384" y="193852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전체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2249424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$400M × 1%p = $4M/년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6501384" y="193852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SEG-0000214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01384" y="2249424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총가치 - 실행 비용 = $721.3K 순가치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순가치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40280" y="3401568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예상 전환 증가 × 세그먼트 트래픽 × 주문가치 × 관측기간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실험·엔지니어링·운영 비용($5K)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475488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+2.25%p는 EXP-0000009 관측값, +1.80%p는 SEG-0000214 추천 예측값입니다.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" y="528523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대시보드의 $0.03/$0.05는 라이브 데모에서 검증한 AI 예산 임계값이며 연간 비용 상한이 아닙니다.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경로, 쓰기 경로, AI 호출 경로를 분리하고 decision_id로 연결합니다.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1171C"/>
          </a:solidFill>
          <a:ln w="17780">
            <a:solidFill>
              <a:srgbClr val="11171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40664" y="1984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/ 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" y="2295144"/>
            <a:ext cx="1673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segment_positions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D2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072384" y="15087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40D1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3218688" y="16184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Sync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18688" y="1929384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전용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인덱스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72384" y="31546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F9E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3218688" y="32644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Lakebase OLTP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18688" y="3575304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feature_decisions_app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audit_trail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42432" y="233172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FF8F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/>
          <p:nvPr/>
        </p:nvSpPr>
        <p:spPr>
          <a:xfrm>
            <a:off x="5888736" y="24414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Nimbus App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88736" y="2752344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AppKit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API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412480" y="15087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EE3D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/>
          <p:nvPr/>
        </p:nvSpPr>
        <p:spPr>
          <a:xfrm>
            <a:off x="8558784" y="161848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AI Gateway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58784" y="1929384"/>
            <a:ext cx="2039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tags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 + budget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12480" y="31546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272B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/>
          <p:nvPr/>
        </p:nvSpPr>
        <p:spPr>
          <a:xfrm>
            <a:off x="8558784" y="326440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AI/BI Dashboard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58784" y="3575304"/>
            <a:ext cx="2039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system.ai_gateway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+ spend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0" y="2240280"/>
            <a:ext cx="512064" cy="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2"/>
          <p:cNvSpPr/>
          <p:nvPr/>
        </p:nvSpPr>
        <p:spPr>
          <a:xfrm>
            <a:off x="5175504" y="2057400"/>
            <a:ext cx="566928" cy="54864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3"/>
          <p:cNvSpPr/>
          <p:nvPr/>
        </p:nvSpPr>
        <p:spPr>
          <a:xfrm>
            <a:off x="5742432" y="3154680"/>
            <a:ext cx="0" cy="548640"/>
          </a:xfrm>
          <a:prstGeom prst="line">
            <a:avLst/>
          </a:prstGeom>
          <a:noFill/>
          <a:ln w="27940">
            <a:solidFill>
              <a:srgbClr val="2F9E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4"/>
          <p:cNvSpPr/>
          <p:nvPr/>
        </p:nvSpPr>
        <p:spPr>
          <a:xfrm>
            <a:off x="7845552" y="2615184"/>
            <a:ext cx="566928" cy="0"/>
          </a:xfrm>
          <a:prstGeom prst="line">
            <a:avLst/>
          </a:prstGeom>
          <a:noFill/>
          <a:ln w="27940">
            <a:solidFill>
              <a:srgbClr val="EE3D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5"/>
          <p:cNvSpPr/>
          <p:nvPr/>
        </p:nvSpPr>
        <p:spPr>
          <a:xfrm>
            <a:off x="9582912" y="2606040"/>
            <a:ext cx="0" cy="548640"/>
          </a:xfrm>
          <a:prstGeom prst="line">
            <a:avLst/>
          </a:prstGeom>
          <a:noFill/>
          <a:ln w="27940">
            <a:solidFill>
              <a:srgbClr val="2272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6"/>
          <p:cNvSpPr/>
          <p:nvPr/>
        </p:nvSpPr>
        <p:spPr>
          <a:xfrm>
            <a:off x="5797296" y="3977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OBO 로그인 사용자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743200" y="50749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decision_id · assist_run_id · request_id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C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읽기/쓰기 경계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테이블은 읽기 전용이며 앱은 단 하나의 운영 테이블만 변경합니다.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9260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READ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nimbus_serving.segment_positions / experiments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SELECT only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source_kind = Build 1 continuous sync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SEARCH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app.search_experiments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READ ONLY + BM25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execution_plan에 index scan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WRITE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app.feature_decisions_app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INSERT / 상태 전이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proposed → approved → committed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RESET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SEG-0000214 decision rows only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 DELETE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confirm=true · synced sources unchanged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전 커밋은 409로 거부 · 다른 segment_id 초기화는 400으로 거부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D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Gateway 통제와 비용 해석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추정, 귀속, 차단, 실제 외부 spend를 각각 별도 필드로 취급합니다.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35640" cy="3383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원칙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추정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 × $0.15/M + output × $0.60/M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추정치로 명시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귀속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request_tags['application'] + requester + request_id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요청 단위 추적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$0.03 alert / $0.05 hard stop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데모 임계값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status_code = 403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3건 관측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spend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external_model_spend.usage_quantity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5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 없으면 NULL, 0 아님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" y="54864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발표에서는 설정 과정을 보여주지 않고 “보임 · 귀속 · 제한”의 결과만 보여줍니다.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E</a:t>
            </a:r>
            <a:endParaRPr lang="en-US" sz="900" dirty="0"/>
          </a:p>
        </p:txBody>
      </p:sp>
      <p:pic>
        <p:nvPicPr>
          <p:cNvPr id="3" name="Image 0" descr="Nimbus customer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85248" y="374904"/>
            <a:ext cx="1426464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583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반론과 짧은 답변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정확성·승인·비용·락인·확장성 질문에 증거로 답합니다.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691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“AI가 틀리면?”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63240" y="1956816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3703320" y="1691640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proposed 초안까지만. 실험 근거와 세 후보를 사람이 검토합니다.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5328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“승인을 우회할 수 있나?”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63240" y="2798064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3703320" y="2532888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 → committed는 상태 머신에서 거부되고 approved_by가 필수입니다.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3741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E3D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“비용이 폭증하면?”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63240" y="3639312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3703320" y="3374136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단위 귀속, $0.03 알림, $0.05 하드 스톱, 403 증거가 있습니다.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4215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“실제 청구액이 0인가?”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63240" y="4480560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/>
          <p:nvPr/>
        </p:nvSpPr>
        <p:spPr>
          <a:xfrm>
            <a:off x="3703320" y="4215384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아닙니다. 외부 spend 행이 없으면 NULL/미제공이며 추정치와 분리합니다.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50566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272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“다른 세그먼트로 확장?”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63240" y="5321808"/>
            <a:ext cx="502920" cy="0"/>
          </a:xfrm>
          <a:prstGeom prst="line">
            <a:avLst/>
          </a:prstGeom>
          <a:noFill/>
          <a:ln w="1778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7"/>
          <p:cNvSpPr/>
          <p:nvPr/>
        </p:nvSpPr>
        <p:spPr>
          <a:xfrm>
            <a:off x="3703320" y="5056632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5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계약으로 segment_id만 바꾸되 초기화는 데모 세그먼트에만 제한합니다.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6539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B6573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1965</Words>
  <Application>Microsoft Macintosh PowerPoint</Application>
  <PresentationFormat>Widescreen</PresentationFormat>
  <Paragraphs>295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Noto Sans KR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Databricks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 Growth Desk: 일주일의 결정을 점심 전에</dc:title>
  <dc:subject>Nimbus 최종 발표 및 라이브 데모</dc:subject>
  <dc:creator>Nimbus Growth Desk</dc:creator>
  <cp:lastModifiedBy>Jongseob Jeon</cp:lastModifiedBy>
  <cp:revision>2</cp:revision>
  <dcterms:created xsi:type="dcterms:W3CDTF">2026-08-27T07:30:45Z</dcterms:created>
  <dcterms:modified xsi:type="dcterms:W3CDTF">2026-08-27T07:32:56Z</dcterms:modified>
</cp:coreProperties>
</file>